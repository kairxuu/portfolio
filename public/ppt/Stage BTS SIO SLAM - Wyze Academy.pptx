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Open Sauce"/>
      <p:regular r:id="rId7"/>
    </p:embeddedFont>
    <p:embeddedFont>
      <p:font typeface="Open Sauce Bold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 autoAdjust="0"/>
    <p:restoredTop sz="94574" autoAdjust="0"/>
  </p:normalViewPr>
  <p:slideViewPr>
    <p:cSldViewPr>
      <p:cViewPr varScale="1">
        <p:scale>
          <a:sx n="98" d="100"/>
          <a:sy n="98" d="100"/>
        </p:scale>
        <p:origin x="224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3386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WYZE ACADEMY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81152" y="7388071"/>
            <a:ext cx="897814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9"/>
              </a:lnSpc>
            </a:pPr>
            <a:r>
              <a:rPr lang="en-US" sz="2999" b="1" spc="299" dirty="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STAGE DE 2ÈME ANNÉE - BTS SIO SLAM</a:t>
            </a:r>
          </a:p>
          <a:p>
            <a:pPr algn="r">
              <a:lnSpc>
                <a:spcPts val="2999"/>
              </a:lnSpc>
              <a:spcBef>
                <a:spcPct val="0"/>
              </a:spcBef>
            </a:pPr>
            <a:r>
              <a:rPr lang="en-US" sz="2999" b="1" spc="299" dirty="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PÉRIODE: DÉCEMBRE 2025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57275"/>
            <a:ext cx="456068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KEOLASY Alexandre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3450" y="6121198"/>
            <a:ext cx="8978148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POSTE: DÉVELOPPEUR WEB FRONT-END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935932" y="2790553"/>
            <a:ext cx="4017818" cy="1296346"/>
            <a:chOff x="0" y="0"/>
            <a:chExt cx="1058191" cy="3414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8191" cy="341425"/>
            </a:xfrm>
            <a:custGeom>
              <a:avLst/>
              <a:gdLst/>
              <a:ahLst/>
              <a:cxnLst/>
              <a:rect l="l" t="t" r="r" b="b"/>
              <a:pathLst>
                <a:path w="1058191" h="341425">
                  <a:moveTo>
                    <a:pt x="67441" y="0"/>
                  </a:moveTo>
                  <a:lnTo>
                    <a:pt x="990749" y="0"/>
                  </a:lnTo>
                  <a:cubicBezTo>
                    <a:pt x="1008636" y="0"/>
                    <a:pt x="1025790" y="7105"/>
                    <a:pt x="1038438" y="19753"/>
                  </a:cubicBezTo>
                  <a:cubicBezTo>
                    <a:pt x="1051085" y="32401"/>
                    <a:pt x="1058191" y="49555"/>
                    <a:pt x="1058191" y="67441"/>
                  </a:cubicBezTo>
                  <a:lnTo>
                    <a:pt x="1058191" y="273983"/>
                  </a:lnTo>
                  <a:cubicBezTo>
                    <a:pt x="1058191" y="311230"/>
                    <a:pt x="1027996" y="341425"/>
                    <a:pt x="990749" y="341425"/>
                  </a:cubicBezTo>
                  <a:lnTo>
                    <a:pt x="67441" y="341425"/>
                  </a:lnTo>
                  <a:cubicBezTo>
                    <a:pt x="30195" y="341425"/>
                    <a:pt x="0" y="311230"/>
                    <a:pt x="0" y="273983"/>
                  </a:cubicBezTo>
                  <a:lnTo>
                    <a:pt x="0" y="67441"/>
                  </a:lnTo>
                  <a:cubicBezTo>
                    <a:pt x="0" y="30195"/>
                    <a:pt x="30195" y="0"/>
                    <a:pt x="674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FDFDF">
                    <a:alpha val="100000"/>
                  </a:srgbClr>
                </a:gs>
                <a:gs pos="100000">
                  <a:srgbClr val="FFFAE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58191" cy="389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Fondateur / Tuteur: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DETRE Bertrand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12368645" y="5989412"/>
            <a:ext cx="3322060" cy="119725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14439900" y="7186669"/>
            <a:ext cx="2501611" cy="1469924"/>
            <a:chOff x="0" y="0"/>
            <a:chExt cx="658861" cy="3871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8861" cy="387140"/>
            </a:xfrm>
            <a:custGeom>
              <a:avLst/>
              <a:gdLst/>
              <a:ahLst/>
              <a:cxnLst/>
              <a:rect l="l" t="t" r="r" b="b"/>
              <a:pathLst>
                <a:path w="658861" h="387140">
                  <a:moveTo>
                    <a:pt x="108317" y="0"/>
                  </a:moveTo>
                  <a:lnTo>
                    <a:pt x="550544" y="0"/>
                  </a:lnTo>
                  <a:cubicBezTo>
                    <a:pt x="579271" y="0"/>
                    <a:pt x="606822" y="11412"/>
                    <a:pt x="627135" y="31725"/>
                  </a:cubicBezTo>
                  <a:cubicBezTo>
                    <a:pt x="647449" y="52039"/>
                    <a:pt x="658861" y="79590"/>
                    <a:pt x="658861" y="108317"/>
                  </a:cubicBezTo>
                  <a:lnTo>
                    <a:pt x="658861" y="278823"/>
                  </a:lnTo>
                  <a:cubicBezTo>
                    <a:pt x="658861" y="307551"/>
                    <a:pt x="647449" y="335102"/>
                    <a:pt x="627135" y="355415"/>
                  </a:cubicBezTo>
                  <a:cubicBezTo>
                    <a:pt x="606822" y="375728"/>
                    <a:pt x="579271" y="387140"/>
                    <a:pt x="550544" y="387140"/>
                  </a:cubicBezTo>
                  <a:lnTo>
                    <a:pt x="108317" y="387140"/>
                  </a:lnTo>
                  <a:cubicBezTo>
                    <a:pt x="79590" y="387140"/>
                    <a:pt x="52039" y="375728"/>
                    <a:pt x="31725" y="355415"/>
                  </a:cubicBezTo>
                  <a:cubicBezTo>
                    <a:pt x="11412" y="335102"/>
                    <a:pt x="0" y="307551"/>
                    <a:pt x="0" y="278823"/>
                  </a:cubicBezTo>
                  <a:lnTo>
                    <a:pt x="0" y="108317"/>
                  </a:lnTo>
                  <a:cubicBezTo>
                    <a:pt x="0" y="79590"/>
                    <a:pt x="11412" y="52039"/>
                    <a:pt x="31725" y="31725"/>
                  </a:cubicBezTo>
                  <a:cubicBezTo>
                    <a:pt x="52039" y="11412"/>
                    <a:pt x="79590" y="0"/>
                    <a:pt x="10831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FDFDF">
                    <a:alpha val="100000"/>
                  </a:srgbClr>
                </a:gs>
                <a:gs pos="100000">
                  <a:srgbClr val="FFFAE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658861" cy="43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Stagiaire: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KEOLASY Alexandre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35866" y="2790553"/>
            <a:ext cx="3605645" cy="1296346"/>
            <a:chOff x="0" y="0"/>
            <a:chExt cx="949635" cy="3414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9635" cy="341425"/>
            </a:xfrm>
            <a:custGeom>
              <a:avLst/>
              <a:gdLst/>
              <a:ahLst/>
              <a:cxnLst/>
              <a:rect l="l" t="t" r="r" b="b"/>
              <a:pathLst>
                <a:path w="949635" h="341425">
                  <a:moveTo>
                    <a:pt x="75151" y="0"/>
                  </a:moveTo>
                  <a:lnTo>
                    <a:pt x="874484" y="0"/>
                  </a:lnTo>
                  <a:cubicBezTo>
                    <a:pt x="915989" y="0"/>
                    <a:pt x="949635" y="33646"/>
                    <a:pt x="949635" y="75151"/>
                  </a:cubicBezTo>
                  <a:lnTo>
                    <a:pt x="949635" y="266274"/>
                  </a:lnTo>
                  <a:cubicBezTo>
                    <a:pt x="949635" y="307778"/>
                    <a:pt x="915989" y="341425"/>
                    <a:pt x="874484" y="341425"/>
                  </a:cubicBezTo>
                  <a:lnTo>
                    <a:pt x="75151" y="341425"/>
                  </a:lnTo>
                  <a:cubicBezTo>
                    <a:pt x="33646" y="341425"/>
                    <a:pt x="0" y="307778"/>
                    <a:pt x="0" y="266274"/>
                  </a:cubicBezTo>
                  <a:lnTo>
                    <a:pt x="0" y="75151"/>
                  </a:lnTo>
                  <a:cubicBezTo>
                    <a:pt x="0" y="33646"/>
                    <a:pt x="33646" y="0"/>
                    <a:pt x="751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FDFDF">
                    <a:alpha val="100000"/>
                  </a:srgbClr>
                </a:gs>
                <a:gs pos="100000">
                  <a:srgbClr val="FFFAE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49635" cy="389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CO-FONDATEUR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SOUMARE Demba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95709" y="4723342"/>
            <a:ext cx="3345873" cy="1266070"/>
            <a:chOff x="0" y="0"/>
            <a:chExt cx="881218" cy="3334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1218" cy="333450"/>
            </a:xfrm>
            <a:custGeom>
              <a:avLst/>
              <a:gdLst/>
              <a:ahLst/>
              <a:cxnLst/>
              <a:rect l="l" t="t" r="r" b="b"/>
              <a:pathLst>
                <a:path w="881218" h="333450">
                  <a:moveTo>
                    <a:pt x="80986" y="0"/>
                  </a:moveTo>
                  <a:lnTo>
                    <a:pt x="800232" y="0"/>
                  </a:lnTo>
                  <a:cubicBezTo>
                    <a:pt x="821711" y="0"/>
                    <a:pt x="842310" y="8532"/>
                    <a:pt x="857497" y="23720"/>
                  </a:cubicBezTo>
                  <a:cubicBezTo>
                    <a:pt x="872685" y="38908"/>
                    <a:pt x="881218" y="59507"/>
                    <a:pt x="881218" y="80986"/>
                  </a:cubicBezTo>
                  <a:lnTo>
                    <a:pt x="881218" y="252465"/>
                  </a:lnTo>
                  <a:cubicBezTo>
                    <a:pt x="881218" y="273944"/>
                    <a:pt x="872685" y="294543"/>
                    <a:pt x="857497" y="309730"/>
                  </a:cubicBezTo>
                  <a:cubicBezTo>
                    <a:pt x="842310" y="324918"/>
                    <a:pt x="821711" y="333450"/>
                    <a:pt x="800232" y="333450"/>
                  </a:cubicBezTo>
                  <a:lnTo>
                    <a:pt x="80986" y="333450"/>
                  </a:lnTo>
                  <a:cubicBezTo>
                    <a:pt x="59507" y="333450"/>
                    <a:pt x="38908" y="324918"/>
                    <a:pt x="23720" y="309730"/>
                  </a:cubicBezTo>
                  <a:cubicBezTo>
                    <a:pt x="8532" y="294543"/>
                    <a:pt x="0" y="273944"/>
                    <a:pt x="0" y="252465"/>
                  </a:cubicBezTo>
                  <a:lnTo>
                    <a:pt x="0" y="80986"/>
                  </a:lnTo>
                  <a:cubicBezTo>
                    <a:pt x="0" y="59507"/>
                    <a:pt x="8532" y="38908"/>
                    <a:pt x="23720" y="23720"/>
                  </a:cubicBezTo>
                  <a:cubicBezTo>
                    <a:pt x="38908" y="8532"/>
                    <a:pt x="59507" y="0"/>
                    <a:pt x="809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FDFDF">
                    <a:alpha val="100000"/>
                  </a:srgbClr>
                </a:gs>
                <a:gs pos="100000">
                  <a:srgbClr val="FFFAE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81218" cy="3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CHEF DE PROJET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Lounnas Ourabah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944841" y="4086899"/>
            <a:ext cx="3423805" cy="63644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16" name="AutoShape 16"/>
          <p:cNvSpPr/>
          <p:nvPr/>
        </p:nvSpPr>
        <p:spPr>
          <a:xfrm flipH="1">
            <a:off x="12368645" y="4086899"/>
            <a:ext cx="2770043" cy="63644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17" name="Group 17"/>
          <p:cNvGrpSpPr/>
          <p:nvPr/>
        </p:nvGrpSpPr>
        <p:grpSpPr>
          <a:xfrm>
            <a:off x="11001706" y="7186669"/>
            <a:ext cx="2733878" cy="1469924"/>
            <a:chOff x="0" y="0"/>
            <a:chExt cx="720034" cy="3871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0034" cy="387140"/>
            </a:xfrm>
            <a:custGeom>
              <a:avLst/>
              <a:gdLst/>
              <a:ahLst/>
              <a:cxnLst/>
              <a:rect l="l" t="t" r="r" b="b"/>
              <a:pathLst>
                <a:path w="720034" h="387140">
                  <a:moveTo>
                    <a:pt x="99115" y="0"/>
                  </a:moveTo>
                  <a:lnTo>
                    <a:pt x="620919" y="0"/>
                  </a:lnTo>
                  <a:cubicBezTo>
                    <a:pt x="675659" y="0"/>
                    <a:pt x="720034" y="44375"/>
                    <a:pt x="720034" y="99115"/>
                  </a:cubicBezTo>
                  <a:lnTo>
                    <a:pt x="720034" y="288026"/>
                  </a:lnTo>
                  <a:cubicBezTo>
                    <a:pt x="720034" y="342765"/>
                    <a:pt x="675659" y="387140"/>
                    <a:pt x="620919" y="387140"/>
                  </a:cubicBezTo>
                  <a:lnTo>
                    <a:pt x="99115" y="387140"/>
                  </a:lnTo>
                  <a:cubicBezTo>
                    <a:pt x="44375" y="387140"/>
                    <a:pt x="0" y="342765"/>
                    <a:pt x="0" y="288026"/>
                  </a:cubicBezTo>
                  <a:lnTo>
                    <a:pt x="0" y="99115"/>
                  </a:lnTo>
                  <a:cubicBezTo>
                    <a:pt x="0" y="44375"/>
                    <a:pt x="44375" y="0"/>
                    <a:pt x="99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FDFDF">
                    <a:alpha val="100000"/>
                  </a:srgbClr>
                </a:gs>
                <a:gs pos="100000">
                  <a:srgbClr val="FFFAE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720034" cy="43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Stagiaire: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FARFAN Daniel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2368645" y="5989412"/>
            <a:ext cx="0" cy="119725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grpSp>
        <p:nvGrpSpPr>
          <p:cNvPr id="21" name="Group 21"/>
          <p:cNvGrpSpPr/>
          <p:nvPr/>
        </p:nvGrpSpPr>
        <p:grpSpPr>
          <a:xfrm>
            <a:off x="7777061" y="7186669"/>
            <a:ext cx="2733878" cy="1469924"/>
            <a:chOff x="0" y="0"/>
            <a:chExt cx="720034" cy="3871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0034" cy="387140"/>
            </a:xfrm>
            <a:custGeom>
              <a:avLst/>
              <a:gdLst/>
              <a:ahLst/>
              <a:cxnLst/>
              <a:rect l="l" t="t" r="r" b="b"/>
              <a:pathLst>
                <a:path w="720034" h="387140">
                  <a:moveTo>
                    <a:pt x="99115" y="0"/>
                  </a:moveTo>
                  <a:lnTo>
                    <a:pt x="620919" y="0"/>
                  </a:lnTo>
                  <a:cubicBezTo>
                    <a:pt x="675659" y="0"/>
                    <a:pt x="720034" y="44375"/>
                    <a:pt x="720034" y="99115"/>
                  </a:cubicBezTo>
                  <a:lnTo>
                    <a:pt x="720034" y="288026"/>
                  </a:lnTo>
                  <a:cubicBezTo>
                    <a:pt x="720034" y="342765"/>
                    <a:pt x="675659" y="387140"/>
                    <a:pt x="620919" y="387140"/>
                  </a:cubicBezTo>
                  <a:lnTo>
                    <a:pt x="99115" y="387140"/>
                  </a:lnTo>
                  <a:cubicBezTo>
                    <a:pt x="44375" y="387140"/>
                    <a:pt x="0" y="342765"/>
                    <a:pt x="0" y="288026"/>
                  </a:cubicBezTo>
                  <a:lnTo>
                    <a:pt x="0" y="99115"/>
                  </a:lnTo>
                  <a:cubicBezTo>
                    <a:pt x="0" y="44375"/>
                    <a:pt x="44375" y="0"/>
                    <a:pt x="991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FDFDF">
                    <a:alpha val="100000"/>
                  </a:srgbClr>
                </a:gs>
                <a:gs pos="100000">
                  <a:srgbClr val="FFFAEE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720034" cy="43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Stagiaire: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 dirty="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GBAMOU Moussa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H="1">
            <a:off x="9144000" y="5989412"/>
            <a:ext cx="3224645" cy="119725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triangle" w="lg" len="me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1028700" y="5817899"/>
            <a:ext cx="4686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WYZE ACADEMY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057275"/>
            <a:ext cx="7342398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PRÉSENTATION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6559555"/>
            <a:ext cx="423816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Siren: 984784645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2750286"/>
            <a:ext cx="4057650" cy="78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Localisation: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Wyze Academy, Villepinte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1910645"/>
            <a:ext cx="8115300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L’entreprise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3778048"/>
            <a:ext cx="4057650" cy="789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dirty="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Domaine d’activité: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Plateforme de formation en ligne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39841" y="1725658"/>
            <a:ext cx="10219459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Organigramme - Branche informatique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7029455"/>
            <a:ext cx="423816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STATUT: SAS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4542" y="1782698"/>
            <a:ext cx="4818489" cy="2102671"/>
            <a:chOff x="0" y="0"/>
            <a:chExt cx="1269067" cy="5537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9067" cy="553790"/>
            </a:xfrm>
            <a:custGeom>
              <a:avLst/>
              <a:gdLst/>
              <a:ahLst/>
              <a:cxnLst/>
              <a:rect l="l" t="t" r="r" b="b"/>
              <a:pathLst>
                <a:path w="1269067" h="553790">
                  <a:moveTo>
                    <a:pt x="44988" y="0"/>
                  </a:moveTo>
                  <a:lnTo>
                    <a:pt x="1224079" y="0"/>
                  </a:lnTo>
                  <a:cubicBezTo>
                    <a:pt x="1248925" y="0"/>
                    <a:pt x="1269067" y="20142"/>
                    <a:pt x="1269067" y="44988"/>
                  </a:cubicBezTo>
                  <a:lnTo>
                    <a:pt x="1269067" y="508802"/>
                  </a:lnTo>
                  <a:cubicBezTo>
                    <a:pt x="1269067" y="533648"/>
                    <a:pt x="1248925" y="553790"/>
                    <a:pt x="1224079" y="553790"/>
                  </a:cubicBezTo>
                  <a:lnTo>
                    <a:pt x="44988" y="553790"/>
                  </a:lnTo>
                  <a:cubicBezTo>
                    <a:pt x="33056" y="553790"/>
                    <a:pt x="21614" y="549050"/>
                    <a:pt x="13177" y="540613"/>
                  </a:cubicBezTo>
                  <a:cubicBezTo>
                    <a:pt x="4740" y="532176"/>
                    <a:pt x="0" y="520734"/>
                    <a:pt x="0" y="508802"/>
                  </a:cubicBezTo>
                  <a:lnTo>
                    <a:pt x="0" y="44988"/>
                  </a:lnTo>
                  <a:cubicBezTo>
                    <a:pt x="0" y="20142"/>
                    <a:pt x="20142" y="0"/>
                    <a:pt x="449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8000"/>
                  </a:srgbClr>
                </a:gs>
                <a:gs pos="100000">
                  <a:srgbClr val="C89116">
                    <a:alpha val="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69067" cy="601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086350"/>
            <a:ext cx="4310172" cy="256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Reprise du développement du site web inachevé 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Migration vers une architecture plus moderne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Correction de bugs bloquants et réorganisation du code</a:t>
            </a:r>
          </a:p>
          <a:p>
            <a:pPr algn="l">
              <a:lnSpc>
                <a:spcPts val="2907"/>
              </a:lnSpc>
            </a:pPr>
            <a:endParaRPr lang="en-US" sz="1900" dirty="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057275"/>
            <a:ext cx="2847786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7666" y="4422198"/>
            <a:ext cx="4310172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spc="-204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Objectifs du projet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7666" y="2070576"/>
            <a:ext cx="4310172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spc="-20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Cadre du stage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7666" y="2600291"/>
            <a:ext cx="4310172" cy="106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7"/>
              </a:lnSpc>
            </a:pPr>
            <a:r>
              <a:rPr lang="en-US" sz="19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Site web destiné à la formation hotelière et digitale &amp; business pour la Guinée.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0" y="3427533"/>
            <a:ext cx="2621107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spc="-20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Mes missions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53600" y="3917433"/>
            <a:ext cx="4427070" cy="18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Migration de l'intégralité du code CSS vers Tailwind CSS</a:t>
            </a:r>
          </a:p>
          <a:p>
            <a:pPr marL="410211" lvl="1" indent="-205106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Création des pages structurelles </a:t>
            </a:r>
          </a:p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Modification du style visuel</a:t>
            </a:r>
          </a:p>
          <a:p>
            <a:pPr algn="l">
              <a:lnSpc>
                <a:spcPts val="2907"/>
              </a:lnSpc>
            </a:pPr>
            <a:endParaRPr lang="en-US" sz="1900" dirty="0">
              <a:solidFill>
                <a:srgbClr val="331B0D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74542" y="4066780"/>
            <a:ext cx="5968655" cy="4087151"/>
            <a:chOff x="1204240" y="170066"/>
            <a:chExt cx="1567656" cy="1076451"/>
          </a:xfrm>
        </p:grpSpPr>
        <p:sp>
          <p:nvSpPr>
            <p:cNvPr id="13" name="Freeform 13"/>
            <p:cNvSpPr/>
            <p:nvPr/>
          </p:nvSpPr>
          <p:spPr>
            <a:xfrm>
              <a:off x="1204240" y="170066"/>
              <a:ext cx="1269067" cy="1015608"/>
            </a:xfrm>
            <a:custGeom>
              <a:avLst/>
              <a:gdLst/>
              <a:ahLst/>
              <a:cxnLst/>
              <a:rect l="l" t="t" r="r" b="b"/>
              <a:pathLst>
                <a:path w="1269067" h="1015608">
                  <a:moveTo>
                    <a:pt x="44988" y="0"/>
                  </a:moveTo>
                  <a:lnTo>
                    <a:pt x="1224079" y="0"/>
                  </a:lnTo>
                  <a:cubicBezTo>
                    <a:pt x="1248925" y="0"/>
                    <a:pt x="1269067" y="20142"/>
                    <a:pt x="1269067" y="44988"/>
                  </a:cubicBezTo>
                  <a:lnTo>
                    <a:pt x="1269067" y="970620"/>
                  </a:lnTo>
                  <a:cubicBezTo>
                    <a:pt x="1269067" y="982552"/>
                    <a:pt x="1264327" y="993995"/>
                    <a:pt x="1255890" y="1002432"/>
                  </a:cubicBezTo>
                  <a:cubicBezTo>
                    <a:pt x="1247454" y="1010868"/>
                    <a:pt x="1236011" y="1015608"/>
                    <a:pt x="1224079" y="1015608"/>
                  </a:cubicBezTo>
                  <a:lnTo>
                    <a:pt x="44988" y="1015608"/>
                  </a:lnTo>
                  <a:cubicBezTo>
                    <a:pt x="20142" y="1015608"/>
                    <a:pt x="0" y="995466"/>
                    <a:pt x="0" y="970620"/>
                  </a:cubicBezTo>
                  <a:lnTo>
                    <a:pt x="0" y="44988"/>
                  </a:lnTo>
                  <a:cubicBezTo>
                    <a:pt x="0" y="20142"/>
                    <a:pt x="20142" y="0"/>
                    <a:pt x="449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8000"/>
                  </a:srgbClr>
                </a:gs>
                <a:gs pos="100000">
                  <a:srgbClr val="C89116">
                    <a:alpha val="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2829" y="183284"/>
              <a:ext cx="1269067" cy="1063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7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49449" y="3142314"/>
            <a:ext cx="4818489" cy="2560507"/>
            <a:chOff x="0" y="0"/>
            <a:chExt cx="1269067" cy="5537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9067" cy="553790"/>
            </a:xfrm>
            <a:custGeom>
              <a:avLst/>
              <a:gdLst/>
              <a:ahLst/>
              <a:cxnLst/>
              <a:rect l="l" t="t" r="r" b="b"/>
              <a:pathLst>
                <a:path w="1269067" h="553790">
                  <a:moveTo>
                    <a:pt x="44988" y="0"/>
                  </a:moveTo>
                  <a:lnTo>
                    <a:pt x="1224079" y="0"/>
                  </a:lnTo>
                  <a:cubicBezTo>
                    <a:pt x="1248925" y="0"/>
                    <a:pt x="1269067" y="20142"/>
                    <a:pt x="1269067" y="44988"/>
                  </a:cubicBezTo>
                  <a:lnTo>
                    <a:pt x="1269067" y="508802"/>
                  </a:lnTo>
                  <a:cubicBezTo>
                    <a:pt x="1269067" y="533648"/>
                    <a:pt x="1248925" y="553790"/>
                    <a:pt x="1224079" y="553790"/>
                  </a:cubicBezTo>
                  <a:lnTo>
                    <a:pt x="44988" y="553790"/>
                  </a:lnTo>
                  <a:cubicBezTo>
                    <a:pt x="33056" y="553790"/>
                    <a:pt x="21614" y="549050"/>
                    <a:pt x="13177" y="540613"/>
                  </a:cubicBezTo>
                  <a:cubicBezTo>
                    <a:pt x="4740" y="532176"/>
                    <a:pt x="0" y="520734"/>
                    <a:pt x="0" y="508802"/>
                  </a:cubicBezTo>
                  <a:lnTo>
                    <a:pt x="0" y="44988"/>
                  </a:lnTo>
                  <a:cubicBezTo>
                    <a:pt x="0" y="20142"/>
                    <a:pt x="20142" y="0"/>
                    <a:pt x="449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8000"/>
                  </a:srgbClr>
                </a:gs>
                <a:gs pos="100000">
                  <a:srgbClr val="C89116">
                    <a:alpha val="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69067" cy="601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7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400" y="1862267"/>
            <a:ext cx="8382000" cy="4352548"/>
          </a:xfrm>
          <a:custGeom>
            <a:avLst/>
            <a:gdLst/>
            <a:ahLst/>
            <a:cxnLst/>
            <a:rect l="l" t="t" r="r" b="b"/>
            <a:pathLst>
              <a:path w="10115542" h="5714881">
                <a:moveTo>
                  <a:pt x="0" y="0"/>
                </a:moveTo>
                <a:lnTo>
                  <a:pt x="10115542" y="0"/>
                </a:lnTo>
                <a:lnTo>
                  <a:pt x="10115542" y="5714882"/>
                </a:lnTo>
                <a:lnTo>
                  <a:pt x="0" y="5714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42" r="-418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28700" y="933450"/>
            <a:ext cx="4056898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CAPTURE D’ECRAN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31891" y="2072487"/>
            <a:ext cx="2613242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7"/>
              </a:lnSpc>
              <a:spcBef>
                <a:spcPct val="0"/>
              </a:spcBef>
            </a:pPr>
            <a:r>
              <a:rPr lang="en-US" sz="2448" dirty="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Langages utilisés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31891" y="2599859"/>
            <a:ext cx="3022309" cy="21379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28572" lvl="1" indent="-264286" algn="just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React</a:t>
            </a:r>
          </a:p>
          <a:p>
            <a:pPr marL="528572" lvl="1" indent="-264286" algn="just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 JS</a:t>
            </a:r>
          </a:p>
          <a:p>
            <a:pPr marL="528572" lvl="1" indent="-264286" algn="just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Tailwind CSS</a:t>
            </a:r>
          </a:p>
          <a:p>
            <a:pPr marL="528572" lvl="1" indent="-264286" algn="just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Lucid icons</a:t>
            </a:r>
          </a:p>
          <a:p>
            <a:pPr marL="528572" lvl="1" indent="-264286" algn="just">
              <a:lnSpc>
                <a:spcPts val="3427"/>
              </a:lnSpc>
              <a:spcBef>
                <a:spcPct val="0"/>
              </a:spcBef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GSAP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31891" y="5067300"/>
            <a:ext cx="2574228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7"/>
              </a:lnSpc>
              <a:spcBef>
                <a:spcPct val="0"/>
              </a:spcBef>
            </a:pPr>
            <a:r>
              <a:rPr lang="en-US" sz="2448" dirty="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Logiciels utilisés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31891" y="5499577"/>
            <a:ext cx="2184109" cy="1276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28572" lvl="1" indent="-264286" algn="l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VS CODE</a:t>
            </a:r>
          </a:p>
          <a:p>
            <a:pPr marL="528572" lvl="1" indent="-264286" algn="l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Trello</a:t>
            </a:r>
          </a:p>
          <a:p>
            <a:pPr marL="528572" lvl="1" indent="-264286" algn="l">
              <a:lnSpc>
                <a:spcPts val="3427"/>
              </a:lnSpc>
              <a:spcBef>
                <a:spcPct val="0"/>
              </a:spcBef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Github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14162" y="7152345"/>
            <a:ext cx="4064413" cy="41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27"/>
              </a:lnSpc>
              <a:spcBef>
                <a:spcPct val="0"/>
              </a:spcBef>
            </a:pPr>
            <a:r>
              <a:rPr lang="en-US" sz="2448" dirty="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Moyens de communication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14162" y="7584622"/>
            <a:ext cx="2101838" cy="8464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28572" lvl="1" indent="-264286" algn="just">
              <a:lnSpc>
                <a:spcPts val="3427"/>
              </a:lnSpc>
              <a:buFont typeface="Arial"/>
              <a:buChar char="•"/>
            </a:pPr>
            <a:r>
              <a:rPr lang="en-US" sz="2448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Discord</a:t>
            </a:r>
          </a:p>
          <a:p>
            <a:pPr algn="just">
              <a:lnSpc>
                <a:spcPts val="3427"/>
              </a:lnSpc>
              <a:spcBef>
                <a:spcPct val="0"/>
              </a:spcBef>
            </a:pPr>
            <a:endParaRPr lang="en-US" sz="2448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0" name="Group 20">
            <a:extLst>
              <a:ext uri="{FF2B5EF4-FFF2-40B4-BE49-F238E27FC236}">
                <a16:creationId xmlns:a16="http://schemas.microsoft.com/office/drawing/2014/main" id="{075F1326-F417-E820-8A6B-BF41BCE777E9}"/>
              </a:ext>
            </a:extLst>
          </p:cNvPr>
          <p:cNvGrpSpPr/>
          <p:nvPr/>
        </p:nvGrpSpPr>
        <p:grpSpPr>
          <a:xfrm>
            <a:off x="1028700" y="4791383"/>
            <a:ext cx="4851146" cy="4087829"/>
            <a:chOff x="0" y="-47625"/>
            <a:chExt cx="1277668" cy="1076630"/>
          </a:xfrm>
        </p:grpSpPr>
        <p:sp>
          <p:nvSpPr>
            <p:cNvPr id="11" name="Freeform 21">
              <a:extLst>
                <a:ext uri="{FF2B5EF4-FFF2-40B4-BE49-F238E27FC236}">
                  <a16:creationId xmlns:a16="http://schemas.microsoft.com/office/drawing/2014/main" id="{9EE21AAE-4ECE-2D30-E070-3B6C5DEDC541}"/>
                </a:ext>
              </a:extLst>
            </p:cNvPr>
            <p:cNvSpPr/>
            <p:nvPr/>
          </p:nvSpPr>
          <p:spPr>
            <a:xfrm>
              <a:off x="8601" y="475215"/>
              <a:ext cx="1269067" cy="553790"/>
            </a:xfrm>
            <a:custGeom>
              <a:avLst/>
              <a:gdLst/>
              <a:ahLst/>
              <a:cxnLst/>
              <a:rect l="l" t="t" r="r" b="b"/>
              <a:pathLst>
                <a:path w="1269067" h="553790">
                  <a:moveTo>
                    <a:pt x="44988" y="0"/>
                  </a:moveTo>
                  <a:lnTo>
                    <a:pt x="1224079" y="0"/>
                  </a:lnTo>
                  <a:cubicBezTo>
                    <a:pt x="1248925" y="0"/>
                    <a:pt x="1269067" y="20142"/>
                    <a:pt x="1269067" y="44988"/>
                  </a:cubicBezTo>
                  <a:lnTo>
                    <a:pt x="1269067" y="508802"/>
                  </a:lnTo>
                  <a:cubicBezTo>
                    <a:pt x="1269067" y="533648"/>
                    <a:pt x="1248925" y="553790"/>
                    <a:pt x="1224079" y="553790"/>
                  </a:cubicBezTo>
                  <a:lnTo>
                    <a:pt x="44988" y="553790"/>
                  </a:lnTo>
                  <a:cubicBezTo>
                    <a:pt x="33056" y="553790"/>
                    <a:pt x="21614" y="549050"/>
                    <a:pt x="13177" y="540613"/>
                  </a:cubicBezTo>
                  <a:cubicBezTo>
                    <a:pt x="4740" y="532176"/>
                    <a:pt x="0" y="520734"/>
                    <a:pt x="0" y="508802"/>
                  </a:cubicBezTo>
                  <a:lnTo>
                    <a:pt x="0" y="44988"/>
                  </a:lnTo>
                  <a:cubicBezTo>
                    <a:pt x="0" y="20142"/>
                    <a:pt x="20142" y="0"/>
                    <a:pt x="449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8000"/>
                  </a:srgbClr>
                </a:gs>
                <a:gs pos="100000">
                  <a:srgbClr val="2A16C8">
                    <a:alpha val="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2" name="TextBox 22">
              <a:extLst>
                <a:ext uri="{FF2B5EF4-FFF2-40B4-BE49-F238E27FC236}">
                  <a16:creationId xmlns:a16="http://schemas.microsoft.com/office/drawing/2014/main" id="{BED12A31-970F-3BDD-2E59-5E3032BFB1ED}"/>
                </a:ext>
              </a:extLst>
            </p:cNvPr>
            <p:cNvSpPr txBox="1"/>
            <p:nvPr/>
          </p:nvSpPr>
          <p:spPr>
            <a:xfrm>
              <a:off x="0" y="-47625"/>
              <a:ext cx="1269067" cy="601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7"/>
                </a:lnSpc>
              </a:pPr>
              <a:endParaRPr/>
            </a:p>
          </p:txBody>
        </p:sp>
      </p:grpSp>
      <p:grpSp>
        <p:nvGrpSpPr>
          <p:cNvPr id="13" name="Group 25">
            <a:extLst>
              <a:ext uri="{FF2B5EF4-FFF2-40B4-BE49-F238E27FC236}">
                <a16:creationId xmlns:a16="http://schemas.microsoft.com/office/drawing/2014/main" id="{67BD2C0D-9D16-5A9C-F55C-27987A58AE49}"/>
              </a:ext>
            </a:extLst>
          </p:cNvPr>
          <p:cNvGrpSpPr/>
          <p:nvPr/>
        </p:nvGrpSpPr>
        <p:grpSpPr>
          <a:xfrm>
            <a:off x="6243190" y="6776541"/>
            <a:ext cx="4818489" cy="2102671"/>
            <a:chOff x="0" y="0"/>
            <a:chExt cx="1269067" cy="553790"/>
          </a:xfrm>
        </p:grpSpPr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8753BADF-7BFF-7734-3E3C-EDE366138AFC}"/>
                </a:ext>
              </a:extLst>
            </p:cNvPr>
            <p:cNvSpPr/>
            <p:nvPr/>
          </p:nvSpPr>
          <p:spPr>
            <a:xfrm>
              <a:off x="0" y="0"/>
              <a:ext cx="1269067" cy="553790"/>
            </a:xfrm>
            <a:custGeom>
              <a:avLst/>
              <a:gdLst/>
              <a:ahLst/>
              <a:cxnLst/>
              <a:rect l="l" t="t" r="r" b="b"/>
              <a:pathLst>
                <a:path w="1269067" h="553790">
                  <a:moveTo>
                    <a:pt x="44988" y="0"/>
                  </a:moveTo>
                  <a:lnTo>
                    <a:pt x="1224079" y="0"/>
                  </a:lnTo>
                  <a:cubicBezTo>
                    <a:pt x="1248925" y="0"/>
                    <a:pt x="1269067" y="20142"/>
                    <a:pt x="1269067" y="44988"/>
                  </a:cubicBezTo>
                  <a:lnTo>
                    <a:pt x="1269067" y="508802"/>
                  </a:lnTo>
                  <a:cubicBezTo>
                    <a:pt x="1269067" y="533648"/>
                    <a:pt x="1248925" y="553790"/>
                    <a:pt x="1224079" y="553790"/>
                  </a:cubicBezTo>
                  <a:lnTo>
                    <a:pt x="44988" y="553790"/>
                  </a:lnTo>
                  <a:cubicBezTo>
                    <a:pt x="33056" y="553790"/>
                    <a:pt x="21614" y="549050"/>
                    <a:pt x="13177" y="540613"/>
                  </a:cubicBezTo>
                  <a:cubicBezTo>
                    <a:pt x="4740" y="532176"/>
                    <a:pt x="0" y="520734"/>
                    <a:pt x="0" y="508802"/>
                  </a:cubicBezTo>
                  <a:lnTo>
                    <a:pt x="0" y="44988"/>
                  </a:lnTo>
                  <a:cubicBezTo>
                    <a:pt x="0" y="20142"/>
                    <a:pt x="20142" y="0"/>
                    <a:pt x="449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8000"/>
                  </a:srgbClr>
                </a:gs>
                <a:gs pos="100000">
                  <a:srgbClr val="2A16C8">
                    <a:alpha val="8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5" name="TextBox 27">
              <a:extLst>
                <a:ext uri="{FF2B5EF4-FFF2-40B4-BE49-F238E27FC236}">
                  <a16:creationId xmlns:a16="http://schemas.microsoft.com/office/drawing/2014/main" id="{17F2ADBB-175B-6512-E340-BC9F3F332325}"/>
                </a:ext>
              </a:extLst>
            </p:cNvPr>
            <p:cNvSpPr txBox="1"/>
            <p:nvPr/>
          </p:nvSpPr>
          <p:spPr>
            <a:xfrm>
              <a:off x="0" y="-47625"/>
              <a:ext cx="1269067" cy="601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27"/>
                </a:lnSpc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AA0CC5E-295C-57CF-10D9-810A960777E2}"/>
              </a:ext>
            </a:extLst>
          </p:cNvPr>
          <p:cNvSpPr txBox="1"/>
          <p:nvPr/>
        </p:nvSpPr>
        <p:spPr>
          <a:xfrm>
            <a:off x="1420119" y="7026583"/>
            <a:ext cx="8115300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spc="-20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Collaboration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4DC92C-51DD-5C4A-937F-49D2A89D3B48}"/>
              </a:ext>
            </a:extLst>
          </p:cNvPr>
          <p:cNvSpPr txBox="1"/>
          <p:nvPr/>
        </p:nvSpPr>
        <p:spPr>
          <a:xfrm>
            <a:off x="1420119" y="7512994"/>
            <a:ext cx="4427070" cy="1078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Travail d’équipe en appel sur Discord (partage d'écran/pair programming)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04CD4AA0-FE55-4C55-552C-3844D31A460C}"/>
              </a:ext>
            </a:extLst>
          </p:cNvPr>
          <p:cNvSpPr txBox="1"/>
          <p:nvPr/>
        </p:nvSpPr>
        <p:spPr>
          <a:xfrm>
            <a:off x="6438900" y="7074880"/>
            <a:ext cx="8115300" cy="45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spc="-20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Suivi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E53EC54D-1EF9-0FAD-907F-A048C7B0EEC3}"/>
              </a:ext>
            </a:extLst>
          </p:cNvPr>
          <p:cNvSpPr txBox="1"/>
          <p:nvPr/>
        </p:nvSpPr>
        <p:spPr>
          <a:xfrm>
            <a:off x="6438900" y="7561291"/>
            <a:ext cx="4427070" cy="701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907"/>
              </a:lnSpc>
              <a:buFont typeface="Arial"/>
              <a:buChar char="•"/>
            </a:pPr>
            <a:r>
              <a:rPr lang="en-US" sz="1900" dirty="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Reporting des avancées au tuteur tous les 3 jours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3450" y="2696608"/>
            <a:ext cx="10910528" cy="173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847827" y="7369021"/>
            <a:ext cx="7411473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sz="2400" b="1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STAGE DE 2ÈME ANNÉE- BTS SIO SLAM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057275"/>
            <a:ext cx="456068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sz="1800" b="1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KEOLASY ALEXANDRE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193</Words>
  <Application>Microsoft Macintosh PowerPoint</Application>
  <PresentationFormat>Personnalisé</PresentationFormat>
  <Paragraphs>58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Calibri</vt:lpstr>
      <vt:lpstr>Open Sauce</vt:lpstr>
      <vt:lpstr>Open Sauce Bold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DE 2ème année</dc:title>
  <cp:lastModifiedBy>Alexandre KEOLASY</cp:lastModifiedBy>
  <cp:revision>3</cp:revision>
  <dcterms:created xsi:type="dcterms:W3CDTF">2006-08-16T00:00:00Z</dcterms:created>
  <dcterms:modified xsi:type="dcterms:W3CDTF">2026-05-12T17:33:06Z</dcterms:modified>
  <dc:identifier>DAHJF1C1uSQ</dc:identifier>
</cp:coreProperties>
</file>