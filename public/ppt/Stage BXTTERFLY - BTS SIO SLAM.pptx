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Open Sauce" charset="1" panose="00000500000000000000"/>
      <p:regular r:id="rId11"/>
    </p:embeddedFont>
    <p:embeddedFont>
      <p:font typeface="Open Sauce Bold" charset="1" panose="0000080000000000000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3450" y="2696608"/>
            <a:ext cx="10910528" cy="1735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040"/>
              </a:lnSpc>
            </a:pPr>
            <a:r>
              <a:rPr lang="en-US" sz="13040" spc="-782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BXTTERFLY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281152" y="7388071"/>
            <a:ext cx="8978148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999"/>
              </a:lnSpc>
            </a:pPr>
            <a:r>
              <a:rPr lang="en-US" b="true" sz="2999" spc="2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STAGE DE 1ÈRE ANNÉE - BTS SIO SLAM</a:t>
            </a:r>
          </a:p>
          <a:p>
            <a:pPr algn="r">
              <a:lnSpc>
                <a:spcPts val="2999"/>
              </a:lnSpc>
              <a:spcBef>
                <a:spcPct val="0"/>
              </a:spcBef>
            </a:pPr>
            <a:r>
              <a:rPr lang="en-US" b="true" sz="2999" spc="29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PÉRIODE: MAI - JUIN 2025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1057275"/>
            <a:ext cx="4560684" cy="245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00"/>
              </a:lnSpc>
              <a:spcBef>
                <a:spcPct val="0"/>
              </a:spcBef>
            </a:pPr>
            <a:r>
              <a:rPr lang="en-US" b="true" sz="1800" spc="17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KEOLASY Alexandre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4469743"/>
            <a:ext cx="8978148" cy="327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00"/>
              </a:lnSpc>
              <a:spcBef>
                <a:spcPct val="0"/>
              </a:spcBef>
            </a:pPr>
            <a:r>
              <a:rPr lang="en-US" b="true" sz="2400" spc="240">
                <a:gradFill>
                  <a:gsLst>
                    <a:gs pos="0">
                      <a:srgbClr val="000000">
                        <a:alpha val="100000"/>
                      </a:srgbClr>
                    </a:gs>
                    <a:gs pos="100000">
                      <a:srgbClr val="C89116">
                        <a:alpha val="100000"/>
                      </a:srgbClr>
                    </a:gs>
                  </a:gsLst>
                  <a:lin ang="0"/>
                </a:gradFill>
                <a:latin typeface="Open Sauce Bold"/>
                <a:ea typeface="Open Sauce Bold"/>
                <a:cs typeface="Open Sauce Bold"/>
                <a:sym typeface="Open Sauce Bold"/>
              </a:rPr>
              <a:t>POSTE: DÉVELOPPEUR WEB FRONT-END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837718" y="3080280"/>
            <a:ext cx="3657600" cy="1469924"/>
            <a:chOff x="0" y="0"/>
            <a:chExt cx="963319" cy="3871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19" cy="387140"/>
            </a:xfrm>
            <a:custGeom>
              <a:avLst/>
              <a:gdLst/>
              <a:ahLst/>
              <a:cxnLst/>
              <a:rect r="r" b="b" t="t" l="l"/>
              <a:pathLst>
                <a:path h="387140" w="963319">
                  <a:moveTo>
                    <a:pt x="74083" y="0"/>
                  </a:moveTo>
                  <a:lnTo>
                    <a:pt x="889235" y="0"/>
                  </a:lnTo>
                  <a:cubicBezTo>
                    <a:pt x="908883" y="0"/>
                    <a:pt x="927727" y="7805"/>
                    <a:pt x="941620" y="21699"/>
                  </a:cubicBezTo>
                  <a:cubicBezTo>
                    <a:pt x="955513" y="35592"/>
                    <a:pt x="963319" y="54435"/>
                    <a:pt x="963319" y="74083"/>
                  </a:cubicBezTo>
                  <a:lnTo>
                    <a:pt x="963319" y="313057"/>
                  </a:lnTo>
                  <a:cubicBezTo>
                    <a:pt x="963319" y="332705"/>
                    <a:pt x="955513" y="351549"/>
                    <a:pt x="941620" y="365442"/>
                  </a:cubicBezTo>
                  <a:cubicBezTo>
                    <a:pt x="927727" y="379335"/>
                    <a:pt x="908883" y="387140"/>
                    <a:pt x="889235" y="387140"/>
                  </a:cubicBezTo>
                  <a:lnTo>
                    <a:pt x="74083" y="387140"/>
                  </a:lnTo>
                  <a:cubicBezTo>
                    <a:pt x="54435" y="387140"/>
                    <a:pt x="35592" y="379335"/>
                    <a:pt x="21699" y="365442"/>
                  </a:cubicBezTo>
                  <a:cubicBezTo>
                    <a:pt x="7805" y="351549"/>
                    <a:pt x="0" y="332705"/>
                    <a:pt x="0" y="313057"/>
                  </a:cubicBezTo>
                  <a:lnTo>
                    <a:pt x="0" y="74083"/>
                  </a:lnTo>
                  <a:cubicBezTo>
                    <a:pt x="0" y="54435"/>
                    <a:pt x="7805" y="35592"/>
                    <a:pt x="21699" y="21699"/>
                  </a:cubicBezTo>
                  <a:cubicBezTo>
                    <a:pt x="35592" y="7805"/>
                    <a:pt x="54435" y="0"/>
                    <a:pt x="7408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DFDFDF">
                    <a:alpha val="100000"/>
                  </a:srgbClr>
                </a:gs>
                <a:gs pos="100000">
                  <a:srgbClr val="FFFAEE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963319" cy="4252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  <a:r>
                <a:rPr lang="en-US" sz="2600">
                  <a:solidFill>
                    <a:srgbClr val="000000"/>
                  </a:solidFill>
                  <a:latin typeface="Open Sauce"/>
                  <a:ea typeface="Open Sauce"/>
                  <a:cs typeface="Open Sauce"/>
                  <a:sym typeface="Open Sauce"/>
                </a:rPr>
                <a:t>Fondateur / Tuteur:</a:t>
              </a:r>
            </a:p>
            <a:p>
              <a:pPr algn="ctr">
                <a:lnSpc>
                  <a:spcPts val="2940"/>
                </a:lnSpc>
              </a:pPr>
              <a:r>
                <a:rPr lang="en-US" sz="2100">
                  <a:solidFill>
                    <a:srgbClr val="000000"/>
                  </a:solidFill>
                  <a:latin typeface="Open Sauce"/>
                  <a:ea typeface="Open Sauce"/>
                  <a:cs typeface="Open Sauce"/>
                  <a:sym typeface="Open Sauce"/>
                </a:rPr>
                <a:t>BEN-MANSOUR Mohammed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2392507" y="5816992"/>
            <a:ext cx="811530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800"/>
              </a:lnSpc>
            </a:pPr>
            <a:r>
              <a:rPr lang="en-US" sz="4800" spc="-288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BXTTERFLY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057275"/>
            <a:ext cx="7342398" cy="245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00"/>
              </a:lnSpc>
              <a:spcBef>
                <a:spcPct val="0"/>
              </a:spcBef>
            </a:pPr>
            <a:r>
              <a:rPr lang="en-US" b="true" sz="1800" spc="17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PRÉSENTATION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392507" y="7110436"/>
            <a:ext cx="4238166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SIREN: 980798334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392507" y="2749379"/>
            <a:ext cx="5101851" cy="1696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 b="true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Localisation: </a:t>
            </a:r>
          </a:p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8C7753"/>
                </a:solidFill>
                <a:latin typeface="Open Sauce"/>
                <a:ea typeface="Open Sauce"/>
                <a:cs typeface="Open Sauce"/>
                <a:sym typeface="Open Sauce"/>
              </a:rPr>
              <a:t>BXTTERFLY, Saint-Ouen, France</a:t>
            </a:r>
          </a:p>
          <a:p>
            <a:pPr algn="l">
              <a:lnSpc>
                <a:spcPts val="3640"/>
              </a:lnSpc>
            </a:pPr>
          </a:p>
          <a:p>
            <a:pPr algn="l">
              <a:lnSpc>
                <a:spcPts val="3640"/>
              </a:lnSpc>
              <a:spcBef>
                <a:spcPct val="0"/>
              </a:spcBef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2392507" y="1909738"/>
            <a:ext cx="811530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800" spc="-288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L’entreprise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92507" y="3777141"/>
            <a:ext cx="5780301" cy="2048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 b="true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Domaine d’activité: </a:t>
            </a:r>
          </a:p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8C7753"/>
                </a:solidFill>
                <a:latin typeface="Open Sauce"/>
                <a:ea typeface="Open Sauce"/>
                <a:cs typeface="Open Sauce"/>
                <a:sym typeface="Open Sauce"/>
              </a:rPr>
              <a:t>Vente en</a:t>
            </a:r>
            <a:r>
              <a:rPr lang="en-US" sz="2000">
                <a:solidFill>
                  <a:srgbClr val="8C7753"/>
                </a:solidFill>
                <a:latin typeface="Open Sauce"/>
                <a:ea typeface="Open Sauce"/>
                <a:cs typeface="Open Sauce"/>
                <a:sym typeface="Open Sauce"/>
              </a:rPr>
              <a:t> ligne de vêtements.</a:t>
            </a:r>
          </a:p>
          <a:p>
            <a:pPr algn="l">
              <a:lnSpc>
                <a:spcPts val="2800"/>
              </a:lnSpc>
            </a:pPr>
          </a:p>
          <a:p>
            <a:pPr algn="l">
              <a:lnSpc>
                <a:spcPts val="3640"/>
              </a:lnSpc>
            </a:pPr>
          </a:p>
          <a:p>
            <a:pPr algn="l">
              <a:lnSpc>
                <a:spcPts val="3640"/>
              </a:lnSpc>
              <a:spcBef>
                <a:spcPct val="0"/>
              </a:spcBef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0837718" y="1909738"/>
            <a:ext cx="811530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800" spc="-288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Organigramme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392507" y="7580336"/>
            <a:ext cx="4238166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STATUT: EI</a:t>
            </a:r>
          </a:p>
        </p:txBody>
      </p:sp>
      <p:sp>
        <p:nvSpPr>
          <p:cNvPr name="AutoShape 13" id="13"/>
          <p:cNvSpPr/>
          <p:nvPr/>
        </p:nvSpPr>
        <p:spPr>
          <a:xfrm>
            <a:off x="12647468" y="4550203"/>
            <a:ext cx="19050" cy="2474632"/>
          </a:xfrm>
          <a:prstGeom prst="line">
            <a:avLst/>
          </a:prstGeom>
          <a:ln cap="flat" w="28575">
            <a:solidFill>
              <a:srgbClr val="000000"/>
            </a:solidFill>
            <a:prstDash val="sysDash"/>
            <a:headEnd type="none" len="sm" w="sm"/>
            <a:tailEnd type="triangle" len="med" w="lg"/>
          </a:ln>
        </p:spPr>
      </p:sp>
      <p:grpSp>
        <p:nvGrpSpPr>
          <p:cNvPr name="Group 14" id="14"/>
          <p:cNvGrpSpPr/>
          <p:nvPr/>
        </p:nvGrpSpPr>
        <p:grpSpPr>
          <a:xfrm rot="0">
            <a:off x="10837718" y="7080325"/>
            <a:ext cx="3657600" cy="1469924"/>
            <a:chOff x="0" y="0"/>
            <a:chExt cx="963319" cy="3871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63319" cy="387140"/>
            </a:xfrm>
            <a:custGeom>
              <a:avLst/>
              <a:gdLst/>
              <a:ahLst/>
              <a:cxnLst/>
              <a:rect r="r" b="b" t="t" l="l"/>
              <a:pathLst>
                <a:path h="387140" w="963319">
                  <a:moveTo>
                    <a:pt x="74083" y="0"/>
                  </a:moveTo>
                  <a:lnTo>
                    <a:pt x="889235" y="0"/>
                  </a:lnTo>
                  <a:cubicBezTo>
                    <a:pt x="908883" y="0"/>
                    <a:pt x="927727" y="7805"/>
                    <a:pt x="941620" y="21699"/>
                  </a:cubicBezTo>
                  <a:cubicBezTo>
                    <a:pt x="955513" y="35592"/>
                    <a:pt x="963319" y="54435"/>
                    <a:pt x="963319" y="74083"/>
                  </a:cubicBezTo>
                  <a:lnTo>
                    <a:pt x="963319" y="313057"/>
                  </a:lnTo>
                  <a:cubicBezTo>
                    <a:pt x="963319" y="332705"/>
                    <a:pt x="955513" y="351549"/>
                    <a:pt x="941620" y="365442"/>
                  </a:cubicBezTo>
                  <a:cubicBezTo>
                    <a:pt x="927727" y="379335"/>
                    <a:pt x="908883" y="387140"/>
                    <a:pt x="889235" y="387140"/>
                  </a:cubicBezTo>
                  <a:lnTo>
                    <a:pt x="74083" y="387140"/>
                  </a:lnTo>
                  <a:cubicBezTo>
                    <a:pt x="54435" y="387140"/>
                    <a:pt x="35592" y="379335"/>
                    <a:pt x="21699" y="365442"/>
                  </a:cubicBezTo>
                  <a:cubicBezTo>
                    <a:pt x="7805" y="351549"/>
                    <a:pt x="0" y="332705"/>
                    <a:pt x="0" y="313057"/>
                  </a:cubicBezTo>
                  <a:lnTo>
                    <a:pt x="0" y="74083"/>
                  </a:lnTo>
                  <a:cubicBezTo>
                    <a:pt x="0" y="54435"/>
                    <a:pt x="7805" y="35592"/>
                    <a:pt x="21699" y="21699"/>
                  </a:cubicBezTo>
                  <a:cubicBezTo>
                    <a:pt x="35592" y="7805"/>
                    <a:pt x="54435" y="0"/>
                    <a:pt x="7408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DFDFDF">
                    <a:alpha val="100000"/>
                  </a:srgbClr>
                </a:gs>
                <a:gs pos="100000">
                  <a:srgbClr val="FFFAEE">
                    <a:alpha val="100000"/>
                  </a:srgbClr>
                </a:gs>
              </a:gsLst>
              <a:lin ang="0"/>
            </a:gradFill>
            <a:ln cap="rnd">
              <a:noFill/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963319" cy="4252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  <a:r>
                <a:rPr lang="en-US" sz="2600">
                  <a:solidFill>
                    <a:srgbClr val="000000"/>
                  </a:solidFill>
                  <a:latin typeface="Open Sauce"/>
                  <a:ea typeface="Open Sauce"/>
                  <a:cs typeface="Open Sauce"/>
                  <a:sym typeface="Open Sauce"/>
                </a:rPr>
                <a:t>Stagiaire:</a:t>
              </a:r>
            </a:p>
            <a:p>
              <a:pPr algn="ctr">
                <a:lnSpc>
                  <a:spcPts val="2940"/>
                </a:lnSpc>
              </a:pPr>
              <a:r>
                <a:rPr lang="en-US" sz="2100">
                  <a:solidFill>
                    <a:srgbClr val="000000"/>
                  </a:solidFill>
                  <a:latin typeface="Open Sauce"/>
                  <a:ea typeface="Open Sauce"/>
                  <a:cs typeface="Open Sauce"/>
                  <a:sym typeface="Open Sauce"/>
                </a:rPr>
                <a:t>KEOLASY Alexandre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2392507" y="6643762"/>
            <a:ext cx="4238166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CATEGORIE: PME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392507" y="8050236"/>
            <a:ext cx="4238166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EFFECTIF: 1</a:t>
            </a:r>
          </a:p>
        </p:txBody>
      </p:sp>
    </p:spTree>
  </p:cSld>
  <p:clrMapOvr>
    <a:masterClrMapping/>
  </p:clrMapOvr>
  <p:transition spd="slow">
    <p:push dir="l"/>
  </p:transition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353541" y="2188267"/>
            <a:ext cx="8115300" cy="457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00"/>
              </a:lnSpc>
            </a:pPr>
            <a:r>
              <a:rPr lang="en-US" sz="3400" spc="-204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BEN-MANSOUR Mohamed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353541" y="2998528"/>
            <a:ext cx="4310172" cy="5566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Direction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: Fondateur et Gérant de l’entreprise BXTTERFLY.</a:t>
            </a:r>
          </a:p>
          <a:p>
            <a:pPr algn="l">
              <a:lnSpc>
                <a:spcPts val="2940"/>
              </a:lnSpc>
            </a:pP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Production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: Gestion des fournisseurs textiles et suivi de la confection.</a:t>
            </a:r>
          </a:p>
          <a:p>
            <a:pPr algn="l">
              <a:lnSpc>
                <a:spcPts val="2940"/>
              </a:lnSpc>
            </a:pP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Stratégie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: Pilotage du commerce en ligne et de la logistique.</a:t>
            </a:r>
          </a:p>
          <a:p>
            <a:pPr algn="l">
              <a:lnSpc>
                <a:spcPts val="2940"/>
              </a:lnSpc>
            </a:pP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b="true" sz="21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Encadrement</a:t>
            </a:r>
            <a:r>
              <a:rPr lang="en-US" sz="21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: Maître de stage et référent projet.</a:t>
            </a:r>
          </a:p>
          <a:p>
            <a:pPr algn="l">
              <a:lnSpc>
                <a:spcPts val="294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9965807" y="3136640"/>
            <a:ext cx="4310172" cy="4682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0211" indent="-205106" lvl="1">
              <a:lnSpc>
                <a:spcPts val="2907"/>
              </a:lnSpc>
              <a:buFont typeface="Arial"/>
              <a:buChar char="•"/>
            </a:pPr>
            <a:r>
              <a:rPr lang="en-US" b="true" sz="19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Modernisation</a:t>
            </a:r>
            <a:r>
              <a:rPr lang="en-US" sz="19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: Refonte complète de l'interface visuelle pour un rendu moderne.</a:t>
            </a:r>
          </a:p>
          <a:p>
            <a:pPr algn="l">
              <a:lnSpc>
                <a:spcPts val="2907"/>
              </a:lnSpc>
            </a:pPr>
          </a:p>
          <a:p>
            <a:pPr algn="l" marL="410211" indent="-205106" lvl="1">
              <a:lnSpc>
                <a:spcPts val="2907"/>
              </a:lnSpc>
              <a:buFont typeface="Arial"/>
              <a:buChar char="•"/>
            </a:pPr>
            <a:r>
              <a:rPr lang="en-US" b="true" sz="19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Optimisation</a:t>
            </a:r>
            <a:r>
              <a:rPr lang="en-US" sz="19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: Amélioration de l'expérience utilisateur avec de nouvelles fonctionnalités interactives.</a:t>
            </a:r>
          </a:p>
          <a:p>
            <a:pPr algn="l">
              <a:lnSpc>
                <a:spcPts val="2907"/>
              </a:lnSpc>
            </a:pPr>
          </a:p>
          <a:p>
            <a:pPr algn="l" marL="410211" indent="-205106" lvl="1">
              <a:lnSpc>
                <a:spcPts val="2907"/>
              </a:lnSpc>
              <a:buFont typeface="Arial"/>
              <a:buChar char="•"/>
            </a:pPr>
            <a:r>
              <a:rPr lang="en-US" b="true" sz="1900">
                <a:solidFill>
                  <a:srgbClr val="331B0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Mise en valeur</a:t>
            </a:r>
            <a:r>
              <a:rPr lang="en-US" sz="1900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 : Valorisation du catalogue textile via un design adapté au prêt-à-porter.</a:t>
            </a:r>
          </a:p>
          <a:p>
            <a:pPr algn="l">
              <a:lnSpc>
                <a:spcPts val="2907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057275"/>
            <a:ext cx="2847786" cy="245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00"/>
              </a:lnSpc>
              <a:spcBef>
                <a:spcPct val="0"/>
              </a:spcBef>
            </a:pPr>
            <a:r>
              <a:rPr lang="en-US" b="true" sz="1800" spc="17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MISSIONS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965807" y="2188267"/>
            <a:ext cx="8115300" cy="457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00"/>
              </a:lnSpc>
            </a:pPr>
            <a:r>
              <a:rPr lang="en-US" sz="3400" spc="-204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Moi</a:t>
            </a:r>
          </a:p>
        </p:txBody>
      </p:sp>
    </p:spTree>
  </p:cSld>
  <p:clrMapOvr>
    <a:masterClrMapping/>
  </p:clrMapOvr>
  <p:transition spd="slow">
    <p:push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120112"/>
            <a:ext cx="9846959" cy="5649750"/>
          </a:xfrm>
          <a:custGeom>
            <a:avLst/>
            <a:gdLst/>
            <a:ahLst/>
            <a:cxnLst/>
            <a:rect r="r" b="b" t="t" l="l"/>
            <a:pathLst>
              <a:path h="5649750" w="9846959">
                <a:moveTo>
                  <a:pt x="0" y="0"/>
                </a:moveTo>
                <a:lnTo>
                  <a:pt x="9846959" y="0"/>
                </a:lnTo>
                <a:lnTo>
                  <a:pt x="9846959" y="5649750"/>
                </a:lnTo>
                <a:lnTo>
                  <a:pt x="0" y="5649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438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33450"/>
            <a:ext cx="4056898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8C7753"/>
                </a:solidFill>
                <a:latin typeface="Open Sauce"/>
                <a:ea typeface="Open Sauce"/>
                <a:cs typeface="Open Sauce"/>
                <a:sym typeface="Open Sauce"/>
              </a:rPr>
              <a:t>CAPTURE D’ECRAN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531891" y="2072487"/>
            <a:ext cx="2613242" cy="4159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27"/>
              </a:lnSpc>
              <a:spcBef>
                <a:spcPct val="0"/>
              </a:spcBef>
            </a:pPr>
            <a:r>
              <a:rPr lang="en-US" sz="2448">
                <a:solidFill>
                  <a:srgbClr val="8C7753"/>
                </a:solidFill>
                <a:latin typeface="Open Sauce"/>
                <a:ea typeface="Open Sauce"/>
                <a:cs typeface="Open Sauce"/>
                <a:sym typeface="Open Sauce"/>
              </a:rPr>
              <a:t>Langages utilisés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531891" y="2599859"/>
            <a:ext cx="2451951" cy="12769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28572" indent="-264286" lvl="1">
              <a:lnSpc>
                <a:spcPts val="3427"/>
              </a:lnSpc>
              <a:buFont typeface="Arial"/>
              <a:buChar char="•"/>
            </a:pPr>
            <a:r>
              <a:rPr lang="en-US" sz="2448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HTML, </a:t>
            </a:r>
          </a:p>
          <a:p>
            <a:pPr algn="just" marL="528572" indent="-264286" lvl="1">
              <a:lnSpc>
                <a:spcPts val="3427"/>
              </a:lnSpc>
              <a:buFont typeface="Arial"/>
              <a:buChar char="•"/>
            </a:pPr>
            <a:r>
              <a:rPr lang="en-US" sz="2448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Tailwind </a:t>
            </a:r>
            <a:r>
              <a:rPr lang="en-US" sz="2448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CSS</a:t>
            </a:r>
          </a:p>
          <a:p>
            <a:pPr algn="just" marL="528572" indent="-264286" lvl="1">
              <a:lnSpc>
                <a:spcPts val="3427"/>
              </a:lnSpc>
              <a:spcBef>
                <a:spcPct val="0"/>
              </a:spcBef>
              <a:buFont typeface="Arial"/>
              <a:buChar char="•"/>
            </a:pPr>
            <a:r>
              <a:rPr lang="en-US" sz="2448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JavaScript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531891" y="4252385"/>
            <a:ext cx="2574228" cy="4159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27"/>
              </a:lnSpc>
              <a:spcBef>
                <a:spcPct val="0"/>
              </a:spcBef>
            </a:pPr>
            <a:r>
              <a:rPr lang="en-US" sz="2448">
                <a:solidFill>
                  <a:srgbClr val="8C7753"/>
                </a:solidFill>
                <a:latin typeface="Open Sauce"/>
                <a:ea typeface="Open Sauce"/>
                <a:cs typeface="Open Sauce"/>
                <a:sym typeface="Open Sauce"/>
              </a:rPr>
              <a:t>Logiciels</a:t>
            </a:r>
            <a:r>
              <a:rPr lang="en-US" sz="2448">
                <a:solidFill>
                  <a:srgbClr val="8C7753"/>
                </a:solidFill>
                <a:latin typeface="Open Sauce"/>
                <a:ea typeface="Open Sauce"/>
                <a:cs typeface="Open Sauce"/>
                <a:sym typeface="Open Sauce"/>
              </a:rPr>
              <a:t> utilisés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531891" y="4716071"/>
            <a:ext cx="1939527" cy="12769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28572" indent="-264286" lvl="1">
              <a:lnSpc>
                <a:spcPts val="3427"/>
              </a:lnSpc>
              <a:buFont typeface="Arial"/>
              <a:buChar char="•"/>
            </a:pPr>
            <a:r>
              <a:rPr lang="en-US" sz="2448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VS CODE</a:t>
            </a:r>
          </a:p>
          <a:p>
            <a:pPr algn="l" marL="528572" indent="-264286" lvl="1">
              <a:lnSpc>
                <a:spcPts val="3427"/>
              </a:lnSpc>
              <a:buFont typeface="Arial"/>
              <a:buChar char="•"/>
            </a:pPr>
            <a:r>
              <a:rPr lang="en-US" sz="2448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Figma</a:t>
            </a:r>
          </a:p>
          <a:p>
            <a:pPr algn="l" marL="528572" indent="-264286" lvl="1">
              <a:lnSpc>
                <a:spcPts val="3427"/>
              </a:lnSpc>
              <a:spcBef>
                <a:spcPct val="0"/>
              </a:spcBef>
              <a:buFont typeface="Arial"/>
              <a:buChar char="•"/>
            </a:pPr>
            <a:r>
              <a:rPr lang="en-US" sz="2448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Github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531891" y="6368597"/>
            <a:ext cx="4064413" cy="4159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27"/>
              </a:lnSpc>
              <a:spcBef>
                <a:spcPct val="0"/>
              </a:spcBef>
            </a:pPr>
            <a:r>
              <a:rPr lang="en-US" sz="2448">
                <a:solidFill>
                  <a:srgbClr val="8C7753"/>
                </a:solidFill>
                <a:latin typeface="Open Sauce"/>
                <a:ea typeface="Open Sauce"/>
                <a:cs typeface="Open Sauce"/>
                <a:sym typeface="Open Sauce"/>
              </a:rPr>
              <a:t>Moyens de communication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618516" y="6923406"/>
            <a:ext cx="2513090" cy="846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28572" indent="-264286" lvl="1">
              <a:lnSpc>
                <a:spcPts val="3427"/>
              </a:lnSpc>
              <a:buFont typeface="Arial"/>
              <a:buChar char="•"/>
            </a:pPr>
            <a:r>
              <a:rPr lang="en-US" sz="2448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Whatsapp</a:t>
            </a:r>
          </a:p>
          <a:p>
            <a:pPr algn="just" marL="528572" indent="-264286" lvl="1">
              <a:lnSpc>
                <a:spcPts val="3427"/>
              </a:lnSpc>
              <a:spcBef>
                <a:spcPct val="0"/>
              </a:spcBef>
              <a:buFont typeface="Arial"/>
              <a:buChar char="•"/>
            </a:pPr>
            <a:r>
              <a:rPr lang="en-US" sz="2448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Google Meet</a:t>
            </a:r>
          </a:p>
        </p:txBody>
      </p:sp>
    </p:spTree>
  </p:cSld>
  <p:clrMapOvr>
    <a:masterClrMapping/>
  </p:clrMapOvr>
  <p:transition spd="slow">
    <p:push dir="l"/>
  </p:transition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3450" y="2696608"/>
            <a:ext cx="10910528" cy="1735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040"/>
              </a:lnSpc>
            </a:pPr>
            <a:r>
              <a:rPr lang="en-US" sz="13040" spc="-782">
                <a:solidFill>
                  <a:srgbClr val="331B0D"/>
                </a:solidFill>
                <a:latin typeface="Open Sauce"/>
                <a:ea typeface="Open Sauce"/>
                <a:cs typeface="Open Sauce"/>
                <a:sym typeface="Open Sauce"/>
              </a:rPr>
              <a:t>CONCLUSION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847827" y="7369021"/>
            <a:ext cx="7411473" cy="327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  <a:spcBef>
                <a:spcPct val="0"/>
              </a:spcBef>
            </a:pPr>
            <a:r>
              <a:rPr lang="en-US" b="true" sz="2400" spc="240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STAGE DE 1ÈRE ANNÉE- BTS SIO SLAM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1057275"/>
            <a:ext cx="4560684" cy="245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00"/>
              </a:lnSpc>
              <a:spcBef>
                <a:spcPct val="0"/>
              </a:spcBef>
            </a:pPr>
            <a:r>
              <a:rPr lang="en-US" b="true" sz="1800" spc="179">
                <a:solidFill>
                  <a:srgbClr val="8C7753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KEOLASY ALEXANDRE</a:t>
            </a:r>
          </a:p>
        </p:txBody>
      </p:sp>
    </p:spTree>
  </p:cSld>
  <p:clrMapOvr>
    <a:masterClrMapping/>
  </p:clrMapOvr>
  <p:transition spd="slow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DAHJFB5ZAF0</dc:identifier>
  <dcterms:modified xsi:type="dcterms:W3CDTF">2011-08-01T06:04:30Z</dcterms:modified>
  <cp:revision>1</cp:revision>
  <dc:title>STAGE DE 1ère année</dc:title>
</cp:coreProperties>
</file>